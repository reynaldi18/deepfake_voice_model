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4389120"/>
          </a:xfrm>
          <a:prstGeom prst="rect">
            <a:avLst/>
          </a:prstGeom>
          <a:solidFill>
            <a:srgbClr val="11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Deteksi Deepfake Audio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D700"/>
                </a:solidFill>
              </a:rPr>
              <a:t>Bahasa Indonesia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B0C8E8"/>
                </a:solidFill>
              </a:rPr>
              <a:t>End-to-End Pipeline: Pembuatan Dataset, Pelatihan &amp; Evaluasi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3383280"/>
            <a:ext cx="3931920" cy="36576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Reynaldi Pamungkas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AACC"/>
                </a:solidFill>
              </a:rPr>
              <a:t>Institut Teknologi Bandung  |  Semester 2  |  April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01968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AASIST  •  MoLEx (LCNN)  •  XGBoost  |  ROC-AUC = 1.0000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</a:rPr>
              <a:t>Reynaldi Pamungkas | ITB 2026  •  2/19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384048" cy="34747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Latar Belakang &amp; Motivasi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10512"/>
            <a:ext cx="384048" cy="34747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3794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8562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Overview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95144"/>
            <a:ext cx="384048" cy="34747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2257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3408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Dataset Bona Fide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79776"/>
            <a:ext cx="384048" cy="34747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80720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8254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Generasi Audio Spoof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64408"/>
            <a:ext cx="384048" cy="34747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9184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3101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Pembagian Dataset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49040"/>
            <a:ext cx="384048" cy="34747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77647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794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Arsitektur Model: AASIST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33672"/>
            <a:ext cx="384048" cy="34747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26110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2793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Arsitektur Model: MoLEx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718304"/>
            <a:ext cx="384048" cy="34747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74573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7640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Arsitektur Model: XGBoost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202936"/>
            <a:ext cx="384048" cy="34747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23036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2486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Hasil Training &amp; Evaluasi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687568"/>
            <a:ext cx="384048" cy="34747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71500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7332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Perbandingan Tiga Model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1325880"/>
            <a:ext cx="384048" cy="34747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135331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Inferensi Real-World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1810512"/>
            <a:ext cx="384048" cy="34747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83794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18562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Temuan Penting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295144"/>
            <a:ext cx="384048" cy="34747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232257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23408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Rekomendasi Lanjutan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2779776"/>
            <a:ext cx="384048" cy="34747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280720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28254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Kesimpulan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3264408"/>
            <a:ext cx="384048" cy="34747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329184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33101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Referensi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Latar Belakang &amp; Motivasi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8E8"/>
                </a:solidFill>
              </a:rPr>
              <a:t>Mengapa deteksi deepfake audio penting?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</a:rPr>
              <a:t>Reynaldi Pamungkas | ITB 2026  •  3/19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394960" cy="5029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6FB5"/>
                </a:solidFill>
              </a:rPr>
              <a:t>Masalah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Teknologi TTS &amp; Voice Cloning kian realistis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Deepfake audio digunakan untuk:
  – Penipuan finansial (vishing)
  – Disinformasi &amp; hoaks
  – Pelanggaran privasi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004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Belum ada sistem deteksi khusus
  Bahasa Indonesia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862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Benchmark internasional (ASVspoof)
  fokus Bahasa Inggris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325880"/>
            <a:ext cx="5669280" cy="502920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371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8A44"/>
                </a:solidFill>
              </a:rPr>
              <a:t>Solusi yang Dibangun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82880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Dataset bona-fide Bahasa Indonesia
  dari Mozilla Common Voice + LibriVox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542032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75.512 sampel spoof dari 4 TTS engine
  Indonesia (Edge-TTS, MMS, gTTS, Kokoro)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255264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3 model komplementer:
  – AASIST (raw waveform, deep learning)
  – MoLEx/LCNN (LFCC features)
  – XGBoost (handcrafted features)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968496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Ensemble prediksi real-world
  dengan confidence thresholding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681728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Semua model: ROC-AUC = 1.0000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4A4A"/>
                </a:solidFill>
              </a:rPr>
              <a:t>Ref: Wang et al. (CSL 2020) | Yi et al. (ICASSP 2022) | Bird &amp; Lotfi (2023) | Wu et al., SEA-SPOOF (2025) | Mawalim et al., InaSAS (2025)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Overview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8E8"/>
                </a:solidFill>
              </a:rPr>
              <a:t>Alur kerja end-to-end dari data mentah ke inferensi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</a:rPr>
              <a:t>Reynaldi Pamungkas | ITB 2026  •  4/19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1691640" cy="12801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96596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
Data
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4248" y="228600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A4A4A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828800"/>
            <a:ext cx="1691640" cy="1280160"/>
          </a:xfrm>
          <a:prstGeom prst="rect">
            <a:avLst/>
          </a:prstGeom>
          <a:solidFill>
            <a:srgbClr val="177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196596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
Audio
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8" y="228600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A4A4A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828800"/>
            <a:ext cx="1691640" cy="128016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196596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
Spoof
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4728" y="228600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A4A4A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828800"/>
            <a:ext cx="1691640" cy="128016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96596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
Dataset
Split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228600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A4A4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80" y="1828800"/>
            <a:ext cx="1691640" cy="1280160"/>
          </a:xfrm>
          <a:prstGeom prst="rect">
            <a:avLst/>
          </a:prstGeom>
          <a:solidFill>
            <a:srgbClr val="E87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196596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
Model
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8" y="228600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A4A4A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1828800"/>
            <a:ext cx="1691640" cy="1280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196596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
Evaluation
&amp; Inference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246120"/>
            <a:ext cx="169164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319272"/>
            <a:ext cx="1600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Common Voice
LibriVox
(35.891 files)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0" y="3246120"/>
            <a:ext cx="169164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0280" y="3319272"/>
            <a:ext cx="1600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16 kHz, FLAC
Dedup
Normalisasi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3246120"/>
            <a:ext cx="169164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60520" y="3319272"/>
            <a:ext cx="1600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Edge-TTS
MMS-VITS
gTTS, Kokoro
(75.512 files)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3246120"/>
            <a:ext cx="169164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3319272"/>
            <a:ext cx="1600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Balancing 1:1
80/10/10 split
(71.782 total)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80" y="3246120"/>
            <a:ext cx="169164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1000" y="3319272"/>
            <a:ext cx="1600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AASIST
MoLEx
XGBoost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75520" y="3246120"/>
            <a:ext cx="169164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21240" y="3319272"/>
            <a:ext cx="16002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4A4A"/>
                </a:solidFill>
              </a:rPr>
              <a:t>ROC-AUC
EER, MCC
Real-World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892040"/>
            <a:ext cx="11338560" cy="64008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Dataset: 35.891 bona-fide + 75.512 spoof   |   Setelah balancing: 71.782 sampel   |   Perangkat: Apple MPS (PyTorch)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Bona Fide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8E8"/>
                </a:solidFill>
              </a:rPr>
              <a:t>Mozilla Common Voice v24.0 + LibriVox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</a:rPr>
              <a:t>Reynaldi Pamungkas | ITB 2026  •  5/19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486400" cy="3657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6FB5"/>
                </a:solidFill>
              </a:rPr>
              <a:t>Sumber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FB5"/>
                </a:solidFill>
              </a:rPr>
              <a:t>Mozilla Common Voice v24.0 (Indonesian)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305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30.256 sampel validated.tsv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3230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Rekaman komunitas sukarela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340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Berbagai aksen &amp; umur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358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375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FB5"/>
                </a:solidFill>
              </a:rPr>
              <a:t>LibriVox Bahasa Indonesia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393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5.635 rekaman audiobook publik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4106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Menambah variasi speaker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4281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Dikecualikan dari TTS spoof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325880"/>
            <a:ext cx="5577840" cy="365760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3716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8A44"/>
                </a:solidFill>
              </a:rPr>
              <a:t>Proses Preprocessing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288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1. Baca TSV: validated, train,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128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2. Deduplikasi (tuple file_id + filename)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59689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3. Gabung rekaman LibriVox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9809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4. Load via librosa (sr=16 kHz, mono)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3649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5. Simpan ulang → FLAC (PCM_16)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7490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6. Tulis metadata TSV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65760" y="5120640"/>
          <a:ext cx="114300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Sumber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Records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Duplikat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Common Voice (validated)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30.256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train.tsv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4.973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4.973 (semua duplikat)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test.tsv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3.691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3.691 (semua duplikat)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LibriVox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5.635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TOTAL UNIK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35.891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4A4A"/>
                </a:solidFill>
              </a:rPr>
              <a:t>Ref: Ardila et al., Common Voice: A Massively-Multilingual Speech Corpus, LREC 2020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Generasi Audio Spoof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8E8"/>
                </a:solidFill>
              </a:rPr>
              <a:t>4 TTS Engine → 75.512 sampel sintetis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</a:rPr>
              <a:t>Reynaldi Pamungkas | ITB 2026  •  6/19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283464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990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Edge-TTS (Microsoft)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2834640" cy="2743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874520"/>
            <a:ext cx="2670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Voices: id-ID-GadisNeural (♀)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221992"/>
            <a:ext cx="2670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      id-ID-ArdiNeural (♂)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569464"/>
            <a:ext cx="2670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 suara × 30.256 kalimat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916936"/>
            <a:ext cx="2670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Async concurrency: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264408"/>
            <a:ext cx="2670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Output: 60.512 files 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4114800"/>
            <a:ext cx="914400" cy="3474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4123944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60.512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73552" y="1325880"/>
            <a:ext cx="2834640" cy="457200"/>
          </a:xfrm>
          <a:prstGeom prst="rect">
            <a:avLst/>
          </a:prstGeom>
          <a:solidFill>
            <a:srgbClr val="106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9272" y="13990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MMS-VITS (Meta)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73552" y="1783080"/>
            <a:ext cx="2834640" cy="2743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1874520"/>
            <a:ext cx="2670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Model: facebook/mms-tts-ind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221992"/>
            <a:ext cx="2670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Target: 5.000 sampel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569464"/>
            <a:ext cx="2670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Resume-friendly queue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2916936"/>
            <a:ext cx="2670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Output: 5.000/5.000 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264408"/>
            <a:ext cx="2670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5102352" y="4114800"/>
            <a:ext cx="914400" cy="347472"/>
          </a:xfrm>
          <a:prstGeom prst="rect">
            <a:avLst/>
          </a:prstGeom>
          <a:solidFill>
            <a:srgbClr val="106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2352" y="4123944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5.000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2784" y="1325880"/>
            <a:ext cx="2834640" cy="45720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8504" y="13990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gTTS (Google)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72784" y="1783080"/>
            <a:ext cx="2834640" cy="2743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1874520"/>
            <a:ext cx="2670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TLD rotasi: com / co.id / com.au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2221992"/>
            <a:ext cx="2670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Request delay: 0.3 detik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2569464"/>
            <a:ext cx="2670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Target: 5.000 sampel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2916936"/>
            <a:ext cx="2670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Output: 5.000/5.000 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3264408"/>
            <a:ext cx="2670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8101584" y="4114800"/>
            <a:ext cx="914400" cy="347472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01584" y="4123944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5.000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72016" y="1325880"/>
            <a:ext cx="2834640" cy="457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17736" y="13990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Kokoro-82M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72016" y="1783080"/>
            <a:ext cx="2834640" cy="2743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81744" y="1874520"/>
            <a:ext cx="2670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Phoneme: espeak-ng (en)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81744" y="2221992"/>
            <a:ext cx="2670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Voices: af_heart, af_bella,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81744" y="2569464"/>
            <a:ext cx="2670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        am_adam, am_michael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81744" y="2916936"/>
            <a:ext cx="2670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Target: 5.000 sampel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81744" y="3264408"/>
            <a:ext cx="2670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Output: 5.000/5.000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100816" y="4114800"/>
            <a:ext cx="914400" cy="3474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00816" y="4123944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5.000</a:t>
            </a:r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274320" y="4709160"/>
          <a:ext cx="116128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2819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Engine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Sampel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Bahasa ID Native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Keterangan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Edge-TTS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60.512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Neural TTS Microsoft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MMS-VITS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5.000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Ya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Meta Massively Multilingual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gTTS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5.000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Google TTS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Kokoro-82M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5.000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Parsial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Phoneme English (espeak-ng)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75.512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274320" y="649224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4A4A"/>
                </a:solidFill>
              </a:rPr>
              <a:t>Ref: Pratap et al., Scaling Speech Technology to 1,000+ Languages (MMS), Meta AI 2023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Pembagian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8E8"/>
                </a:solidFill>
              </a:rPr>
              <a:t>Balancing 1:1 → Split 80/10/10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</a:rPr>
              <a:t>Reynaldi Pamungkas | ITB 2026  •  7/19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920240" cy="118872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630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Bona Fide
35.891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1992" y="173736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4A4A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41448" y="1371600"/>
            <a:ext cx="1920240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14630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Spoof
75.512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73736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4A4A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08576" y="1371600"/>
            <a:ext cx="1920240" cy="11887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14630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Balancing
1:1
→ 35.891 tiap kelas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173736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4A4A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75704" y="1371600"/>
            <a:ext cx="1920240" cy="118872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1424" y="14630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Shuffle
seed=42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23376" y="173736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4A4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42832" y="1371600"/>
            <a:ext cx="1920240" cy="1188720"/>
          </a:xfrm>
          <a:prstGeom prst="rect">
            <a:avLst/>
          </a:prstGeom>
          <a:solidFill>
            <a:srgbClr val="E87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88552" y="14630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Split
80/10/10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65760" y="2743200"/>
          <a:ext cx="11430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Split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Total Sampel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Bona Fide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Spoof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Proporsi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57.425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28.687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28.738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Val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7.178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~3.590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~3.588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7.179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3.621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3.558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71.782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35.891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35.891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365760" y="4572000"/>
            <a:ext cx="11430000" cy="16459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6634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31A"/>
                </a:solidFill>
              </a:rPr>
              <a:t>Catatan Penting: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5604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Balancing dilakukan dengan subsample spoof → mencegah bias ke kelas mayoritas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48656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5.635 rekaman LibriVox dikecualikan dari generasi TTS (hanya Common Voice yang di-TTS)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5412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Random seed=42 untuk reproducibility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3387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Distribusi kelas hampir sempurna 50/50 di semua split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Arsitektur Model: AASIST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8E8"/>
                </a:solidFill>
              </a:rPr>
              <a:t>Audio Anti-Spoofing using Integrated Spectro-Temporal Graph Attention Networks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</a:rPr>
              <a:t>Reynaldi Pamungkas | ITB 2026  •  8/19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011680" cy="18288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0876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Input
Raw Waveform
64.000 sampel
4 detik @ 16 kHz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95144" y="20574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4A4A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371600"/>
            <a:ext cx="2011680" cy="1828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50876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SincConv
Learnable sinc
filterbank
(front-end)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0574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4A4A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371600"/>
            <a:ext cx="2011680" cy="1828800"/>
          </a:xfrm>
          <a:prstGeom prst="rect">
            <a:avLst/>
          </a:prstGeom>
          <a:solidFill>
            <a:srgbClr val="177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50876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ResBlock
Encoder
Residuual conv
blocsk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264" y="20574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4A4A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1371600"/>
            <a:ext cx="2011680" cy="18288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150876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Adaptive
AvgPool
Temporal
aggregation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20574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4A4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371600"/>
            <a:ext cx="2011680" cy="182880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50876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Classifier
FC + Dropout
→ 2 kelas
(spoof/bonafide)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29000"/>
            <a:ext cx="5394960" cy="2560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4747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FB5"/>
                </a:solidFill>
              </a:rPr>
              <a:t>Spesifikasi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8679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Parameter Total: 2.508.174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2519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Batch Size: 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6360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Optimizer: AdamW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02005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Learning Rate: 1 × 10⁻⁴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40410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Weight Decay: 1 × 10⁻⁴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429000"/>
            <a:ext cx="5669280" cy="2560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3474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FB5"/>
                </a:solidFill>
              </a:rPr>
              <a:t>Hyperparameter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8679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Epochs (max): 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2519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Scheduler: CosineAnnealingLR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6360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Early Stopping: patience =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502005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Best Epoch: 6 (val acc 99.86%)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40410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Device: Apple MPS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49224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4A4A"/>
                </a:solidFill>
              </a:rPr>
              <a:t>Ref: Jung et al., AASIST: Audio Anti-Spoofing using Integrated Spectro-Temporal Graph Attention Networks, ICASSP 2022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Arsitektur Model: MoLEx (LCNN)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8E8"/>
                </a:solidFill>
              </a:rPr>
              <a:t>Light CNN + Attention Pooling dengan fitur LFCC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</a:rPr>
              <a:t>Reynaldi Pamungkas | ITB 2026  •  9/19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011680" cy="182880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5448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Input Audio
16 kHz FLAC
≤ 4 detik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95144" y="20574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4A4A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371600"/>
            <a:ext cx="2011680" cy="1828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55448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LFCC
Extraction
60 koef.
401 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0574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4A4A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371600"/>
            <a:ext cx="2011680" cy="1828800"/>
          </a:xfrm>
          <a:prstGeom prst="rect">
            <a:avLst/>
          </a:prstGeom>
          <a:solidFill>
            <a:srgbClr val="177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55448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LCNN
Blocks
Light CNN
(max-feature-map)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264" y="20574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4A4A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1371600"/>
            <a:ext cx="2011680" cy="18288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155448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Attention
Pooling
Weighted
temporal agg.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205740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4A4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371600"/>
            <a:ext cx="2011680" cy="182880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55448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Classifier
FC Layer
→ 2 kelas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29000"/>
            <a:ext cx="5394960" cy="2560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4747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FB5"/>
                </a:solidFill>
              </a:rPr>
              <a:t>Parameter LFCC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8679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n_lfcc = 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2519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n_filter = 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6360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n_fft = 512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02005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win_length = 320 sampel (20 ms)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40410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hop_length = 160 sampel (10 ms)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429000"/>
            <a:ext cx="5669280" cy="2560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3474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FB5"/>
                </a:solidFill>
              </a:rPr>
              <a:t>Spesifikasi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8679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Parameter Total: 179.491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2519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vs AASIST: 14× lebih ringan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6360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Batch Size: 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502005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Best Epoch: 8 (val acc 100.00%)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40410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Early Stopping: epoch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4A4A"/>
                </a:solidFill>
              </a:rPr>
              <a:t>Ref: Sahidullah et al., A Comparison of Features for Synthetic Speech Detection, Interspeech 2015 | Wu et al., Light CNN for Deep Face Representation with Noisy Labels, IEEE T-IFS 2015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XGBoost: Fitur Akustik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8E8"/>
                </a:solidFill>
              </a:rPr>
              <a:t>Handcrafted features — cepat &amp; interpretable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</a:rPr>
              <a:t>Reynaldi Pamungkas | ITB 2026  •  10/19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486400" cy="2926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6FB5"/>
                </a:solidFill>
              </a:rPr>
              <a:t>26 Fitur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31A"/>
                </a:solidFill>
              </a:rPr>
              <a:t>Fitur Akustik (6)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488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Chroma, RMS, Spectral Centroid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Spectral Bandwidth, Spectral Rolloff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974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Zero Crossing Rate (ZCR)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632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31A"/>
                </a:solidFill>
              </a:rPr>
              <a:t>MFCC (20)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832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MFCC_1 s/d MFCC_20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76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Rata-rata per segmen 1 detik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31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  • Standardisasi: StandardScaler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1325880"/>
          <a:ext cx="56692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34082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Rank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Fitur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Gain (XGBoost)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</a:tr>
              <a:tr h="34082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MFCC_7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0.2520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82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RMS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0.0984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4082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MFCC_16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0.0733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82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MFCC_5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0.0724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4082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MFCC_10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0.0692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82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Rolloff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0.0566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4082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MFCC_13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0.0461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82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MFCC_2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0.0400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40821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MFCC_17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0.0372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829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MFCC_15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0.0347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365760" y="4343400"/>
            <a:ext cx="5486400" cy="201168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31A"/>
                </a:solidFill>
              </a:rPr>
              <a:t>Hyperparameter XGBoost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006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max_depth=6  |  learning_rate=0.1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074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subsample=0.8  |  colsample_bytree=0.8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349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Boosting rounds optimal: 313 (early stopping)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6235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10-Fold Cross-Validation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4A4A"/>
                </a:solidFill>
              </a:rPr>
              <a:t>Ref: Chen &amp; Guestrin, XGBoost: A Scalable Tree Boosting System, KDD 2016 | Davis &amp; Mermelstein, Comparison of Parametric Representations for MFCC, IEEE T-ASSP 1980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Hasil Training &amp; Evaluasi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8E8"/>
                </a:solidFill>
              </a:rPr>
              <a:t>Progres training ketiga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</a:rPr>
              <a:t>Reynaldi Pamungkas | ITB 2026  •  11/19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FB5"/>
                </a:solidFill>
              </a:rPr>
              <a:t>AASIST — Progres Training (selected epochs)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737360"/>
          <a:ext cx="566928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/>
                <a:gridCol w="1133856"/>
                <a:gridCol w="1133856"/>
                <a:gridCol w="1133856"/>
                <a:gridCol w="1133856"/>
              </a:tblGrid>
              <a:tr h="28085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Epoch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Train Loss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Train Acc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Val Loss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Val Acc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0.0942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96.61%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2.5823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68.51%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0.0075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99.80%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1.1331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80.61%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6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0.0043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99.88%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0.0062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99.86% ← best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0.0023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99.94%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43.597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53.13%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0.0012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99.96%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0.0308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99.40%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(stop)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early stop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3258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A44"/>
                </a:solidFill>
              </a:rPr>
              <a:t>MoLEx — Progres Training (selected epochs)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737360"/>
          <a:ext cx="54864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28085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Epoch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Train Loss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Train Acc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Val Loss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Val Acc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0.0469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98.40%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0.0159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99.62%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0.0065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99.86%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0.0024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99.93%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0.0024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99.95%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0.0001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99.99%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8 ★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0.0004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99.99%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0.0001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100.00% ← best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(stop)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early stop ep.13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38404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4A"/>
                </a:solidFill>
              </a:rPr>
              <a:t>Hasil Test Set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4251960"/>
          <a:ext cx="1142999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F1-Score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EER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MCC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AASIST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0.9958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MoLEx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0.03%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0.9992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0.10%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0.9981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5760" y="58064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4A4A"/>
                </a:solidFill>
              </a:rPr>
              <a:t>★ = Best checkpoint  |  Semua model: test accuracy ≥ 99.79%, ROC-AUC = 1.0000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Perbandingan Tiga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8E8"/>
                </a:solidFill>
              </a:rPr>
              <a:t>AASIST vs MoLEx vs XGBoost — trade-off performa &amp; efisiensi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</a:rPr>
              <a:t>Reynaldi Pamungkas | ITB 2026  •  12/19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30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Metrik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AASIST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MoLEx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99.79%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99.96%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99.90%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0.00%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0.03%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0.10%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MCC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0.9958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0.9992 ★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0.9981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Inf. (ms/sampel)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4.5964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3.2693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0.0026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# Parameter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2.508.174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179.491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N/A (tree)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Jenis 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Raw waveform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LFCC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MFCC + akustik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Training stability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Volatile val loss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Stabil ★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CV stabil ★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Batch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✓ (sel 7.3)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✓ (sel 7.3)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✓ (sel 9.6b) ← baru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4709160"/>
            <a:ext cx="1828800" cy="45720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47823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MoLEx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4709160"/>
            <a:ext cx="960120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80060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Accuracy &amp; MCC terbaik, parameter 14× lebih sedikit dari AASIST, training stabil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257800"/>
            <a:ext cx="1828800" cy="4572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5330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AASIST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5257800"/>
            <a:ext cx="960120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534924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EER terbaik (0.00%), cocok untuk aplikasi high-security, input langsung raw audio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806440"/>
            <a:ext cx="1828800" cy="457200"/>
          </a:xfrm>
          <a:prstGeom prst="rect">
            <a:avLst/>
          </a:prstGeom>
          <a:solidFill>
            <a:srgbClr val="E87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8795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5806440"/>
            <a:ext cx="960120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589788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Inferensi 1.770× lebih cepat + kini batch inference independen (sel 9.6b), ideal edge/real-time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4A4A"/>
                </a:solidFill>
              </a:rPr>
              <a:t>★ = Best dalam kategori tersebut  |  Ensemble AASIST+MoLEx: keputusan akhir  |  XGBoost: batch inference independen (sel 9.6b)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Inferensi Real-World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8E8"/>
                </a:solidFill>
              </a:rPr>
              <a:t>Ensemble AASIST + MoLEx (Bagian 9) · XGBoost independen (sel 9.6b)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</a:rPr>
              <a:t>Reynaldi Pamungkas | ITB 2026  •  13/19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200400" cy="1371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FB5"/>
                </a:solidFill>
              </a:rPr>
              <a:t>Setup Ensemble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2971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Threshold Low = 0.3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2971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Threshold High = 0.7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86000"/>
            <a:ext cx="2971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Jika AASIST &amp; MoLEx beda → TIDAK YAKIN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60320"/>
            <a:ext cx="2971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Format: .flac .wav .mp3 .m4a .ogg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34640"/>
            <a:ext cx="2971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• XGBoost: batch independen (sel 9.6b)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749039" y="1325880"/>
          <a:ext cx="81381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540"/>
                <a:gridCol w="2034540"/>
                <a:gridCol w="2034540"/>
                <a:gridCol w="2034540"/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File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AASIST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MoLEx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Ensemble</a:t>
                      </a:r>
                    </a:p>
                  </a:txBody>
                  <a:tcPr>
                    <a:solidFill>
                      <a:srgbClr val="1A6FB5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fake_ardi_ttsfree.mp3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SPOOF 0.9999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SPOOF 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SPOOF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fake_ttsfree_standard-b.mp3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BONAFIDE 0.0016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BONAFIDE 0.0253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BONAFIDE 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fake_guru_rani_minta_duit.mp3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SPOOF 0.9956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BONAFIDE 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TIDAK YAKIN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real_CNN.mp3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BONAFIDE 0.0000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BONAFIDE 0.0000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BONAFIDE 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real_Pak_Jokowi.mp3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BONAFIDE 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BONAFIDE 0.0000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BONAFIDE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sample_dewi_putri.mp3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SPOOF 1.0000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SPOOF 1.0000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SPOOF ✓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sample_budi_utomo.mp3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SPOOF 0.9886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BONAFIDE 0.1563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</a:rPr>
                        <a:t>TIDAK YAKIN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365760" y="2834640"/>
            <a:ext cx="3200400" cy="1554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8036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FB5"/>
                </a:solidFill>
              </a:rPr>
              <a:t>Ringkasan Batch (25 file)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91840"/>
            <a:ext cx="182880" cy="256032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2918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BONAFIDE: 19 (76.0%)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639312"/>
            <a:ext cx="1828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SPOOF: 3 (12.0%)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86784"/>
            <a:ext cx="182880" cy="256032"/>
          </a:xfrm>
          <a:prstGeom prst="rect">
            <a:avLst/>
          </a:prstGeom>
          <a:solidFill>
            <a:srgbClr val="E87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98678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TIDAK YAKIN: 3 (12.0%)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526280"/>
            <a:ext cx="11430000" cy="224028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57200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31A"/>
                </a:solidFill>
              </a:rPr>
              <a:t>Temuan Kritis dari Real-World Test: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98348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fake_ttsfree_standard-b/c: model GAGAL mendeteksi → TTSFree menggunakan model TTS yang lebih realistis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3095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3 kasus TIDAK YAKIN: AASIST &amp; MoLEx tidak agree → perlu investigasi lebih lanjut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67842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Semua audio nyata (real_*): terklasifikasi BONAFIDE dengan benar (precision sempurna)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02589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XGBoost kini mendukung batch folder inference independen (sel 9.6b) — ~0.006 ms/file, CPU 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Temuan Penting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8E8"/>
                </a:solidFill>
              </a:rPr>
              <a:t>Insight teknis dari eksperimen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</a:rPr>
              <a:t>Reynaldi Pamungkas | ITB 2026  •  14/19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657600" cy="41148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898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1. Semua Model ROC-AUC = 1.0000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3657600" cy="1874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Ketiga model mencapai discriminability sempurna di test set. Penambahan data LibriVox meningkatkan variasi bona-fide secara signifikan.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325880"/>
            <a:ext cx="3657600" cy="4114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3898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2. AASIST: Val Loss Volatile tapi Performatif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1737360"/>
            <a:ext cx="3657600" cy="1874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82880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Lonjakan dramatis di epoch 3, 7–9 menunjukkan instabilitas training. Namun checkpoint epoch 6 berhasil menangkap representasi yang tepat. EER turun dari 0.56% → 0.00%.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325880"/>
            <a:ext cx="3657600" cy="411480"/>
          </a:xfrm>
          <a:prstGeom prst="rect">
            <a:avLst/>
          </a:prstGeom>
          <a:solidFill>
            <a:srgbClr val="E87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999" y="13898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3. MoLEx: Efisien &amp; Stabil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737360"/>
            <a:ext cx="3657600" cy="1874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182880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Training konsisten tanpa lonjakan loss. Dengan hanya 179.491 parameter (14× lebih sedikit dari AASIST), MoLEx mencapai accuracy tertinggi 99.96%.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40480"/>
            <a:ext cx="365760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9044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4. Potensi Distributional Leak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51960"/>
            <a:ext cx="3657600" cy="1874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34340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Spoof dihasilkan dari kalimat yang SAMA dengan bona-fide. Model mungkin belajar TTS artifacts, bukan pola linguistik umum. Perlu evaluasi dengan data out-of-distribution.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3840480"/>
            <a:ext cx="3657600" cy="41148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39044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5. TTSFree: False Negative Meningkat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4251960"/>
            <a:ext cx="3657600" cy="1874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434340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3 file TTSFree lolos deteksi. Kemungkinan menggunakan arsitektur TTS lebih canggih dari training data. Perlu analisis spektral mendalam.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3840480"/>
            <a:ext cx="3657600" cy="411480"/>
          </a:xfrm>
          <a:prstGeom prst="rect">
            <a:avLst/>
          </a:prstGeom>
          <a:solidFill>
            <a:srgbClr val="177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0999" y="39044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6. XGBoost: Kecepatan Inferensi Luar Biasa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4251960"/>
            <a:ext cx="3657600" cy="1874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19" y="434340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0.0026 ms/sampel — ~1.770× lebih cepat dari model DL. Kandidat ideal untuk edge deployment dan sistem real-time dengan resource terbatas.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Rekomendasi Lanjutan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8E8"/>
                </a:solidFill>
              </a:rPr>
              <a:t>Langkah berikutnya untuk meningkatkan robustness sistem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</a:rPr>
              <a:t>Reynaldi Pamungkas | ITB 2026  •  15/19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201168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PRIORITAS TINGGI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371600"/>
            <a:ext cx="94183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41732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1. Evaluasi generalisasi dengan audio YouTube/podcast/call-center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1755648"/>
            <a:ext cx="94183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801368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2. Zero-shot TTS evaluation (TTS baru yang tidak ada di training)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2139696"/>
            <a:ext cx="94183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2185416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3. Pisahkan kalimat bona-fide dan spoof untuk menghindari distributional leak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23744"/>
            <a:ext cx="94183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2569464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4. Stabilkan AASIST: gradient clipping, LR warmup, fine-tune dari pre-trained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17520"/>
            <a:ext cx="2011680" cy="384048"/>
          </a:xfrm>
          <a:prstGeom prst="rect">
            <a:avLst/>
          </a:prstGeom>
          <a:solidFill>
            <a:srgbClr val="E87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0632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PRIORITAS SEDANG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3063240"/>
            <a:ext cx="94183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310896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5. Tambah TTS engine realistis: ElevenLabs, OpenAI TTS, voice conversion (VC) attacks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23160" y="3447288"/>
            <a:ext cx="94183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3493008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6. Ensemble cerdas: weighted voting, stacking, Platt scaling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831336"/>
            <a:ext cx="94183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877056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7. Investigasi TTSFree: analisis spektral, identifikasi arsitektur TTS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23160" y="4215384"/>
            <a:ext cx="94183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261104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8. Data augmentation: noise, codec compression, room impulse response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709160"/>
            <a:ext cx="2011680" cy="384048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754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PRIORITAS RENDAH / EKSPLORATIF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23160" y="4754880"/>
            <a:ext cx="94183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4600" y="4800600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9. Lightweight deployment XGBoost: ONNX / TreeLite untuk mobile/embedded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23160" y="5138928"/>
            <a:ext cx="94183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14600" y="5184648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10. Continual learning: update berkala dengan data baru + deteksi distribution shift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23160" y="5522976"/>
            <a:ext cx="9418320" cy="34747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14600" y="5568696"/>
            <a:ext cx="9235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11. Explainability: SHAP values (XGBoost), Grad-CAM (MoLEx) untuk forensik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Kesimpulan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</a:rPr>
              <a:t>Reynaldi Pamungkas | ITB 2026  •  16/19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73152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Sistem deteksi deepfake audio Bahasa Indonesia end-to-end berhasil dibangun dengan performa sangat tinggi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3657600" cy="4572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677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Dataset Komprehensif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51760"/>
            <a:ext cx="3657600" cy="1645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743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35.891 sampel bona-fide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0906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75.512 sampel spoof (4 TTS engine)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4381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Balanced split 80/10/10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7856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Mozilla Common Voice + LibriVox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2194560"/>
            <a:ext cx="3657600" cy="457200"/>
          </a:xfrm>
          <a:prstGeom prst="rect">
            <a:avLst/>
          </a:prstGeom>
          <a:solidFill>
            <a:srgbClr val="1E8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2677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 Model Komplementer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2651760"/>
            <a:ext cx="3657600" cy="1645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2743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AASIST: EER 0.00%, raw waveform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0906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MoLEx: 99.96% acc, 14× lighter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34381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XGBoost: 0.0026 ms/sampel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37856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Semua ROC-AUC = 1.0000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2194560"/>
            <a:ext cx="3657600" cy="457200"/>
          </a:xfrm>
          <a:prstGeom prst="rect">
            <a:avLst/>
          </a:prstGeom>
          <a:solidFill>
            <a:srgbClr val="E87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22677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Siap Dikembangkan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651760"/>
            <a:ext cx="3657600" cy="1645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2743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Ensemble real-world inference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30906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XGBoost: edge 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34381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AASIST/MoLEx: cloud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37856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• Explainability ready (SHAP)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434840"/>
            <a:ext cx="11430000" cy="822960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5262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D2B4A"/>
                </a:solidFill>
              </a:rPr>
              <a:t>"Dengan ROC-AUC = 1.0000 pada ketiga model, pipeline ini menunjukkan bahwa deteksi deepfake audio Bahasa Indonesia dapat dilakukan dengan akurasi sangat tinggi menggunakan data open-source dan teknik yang ada."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394960"/>
            <a:ext cx="1143000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440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31A"/>
                </a:solidFill>
              </a:rPr>
              <a:t>Langkah Selanjutnya: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544068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Evaluasi OOD → Tambah TTS realistis → Pisahkan distribusi kalimat → Deployment edge/cloud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Referensi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99AA"/>
                </a:solidFill>
              </a:rPr>
              <a:t>Reynaldi Pamungkas | ITB 2026  •  17/19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457200" cy="3200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6245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4416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Jung, J. W., et al. (2022). AASIST: Audio Anti-Spoofing using Integrated Spectro-Temporal Graph Attention Networks. ICASSP 2022, pp. 6367–6371. doi:10.1109/ICASSP43922.2022.9747766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73352"/>
            <a:ext cx="457200" cy="3200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70992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[2]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916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Wang, X., et al. (2020). ASVspoof 2019: A Large-Scale Public Database of Synthesized, Converted and Replayed Speech. Computer Speech &amp; Language, 64, 101114.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20824"/>
            <a:ext cx="457200" cy="3200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05740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[3]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03911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Yi, J., et al. (2022). ADD 2022: The First Audio Deep Synthesis Detection Challenge. ICASSP 2022, pp. 9226–9230.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68296"/>
            <a:ext cx="457200" cy="3200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40487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[4]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38658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Sahidullah, M., et al. (2015). A Comparison of Features for Synthetic Speech Detection. Interspeech 2015, pp. 2087–2091.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715768"/>
            <a:ext cx="457200" cy="3200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75234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[5]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734056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Wu, X., et al. (2018). Light CNN for Deep Face Representation with Noisy Labels. IEEE Transactions on Information Forensics and Security, 13(11), pp. 2884–2896.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063240"/>
            <a:ext cx="457200" cy="3200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09981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[6]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0815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Chen, T. &amp; Guestrin, C. (2016). XGBoost: A Scalable Tree Boosting System. Proc. 22nd ACM SIGKDD, pp. 785–794. doi:10.1145/2939672.2939785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410712"/>
            <a:ext cx="457200" cy="3200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44728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[7]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4290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Ardila, R., et al. (2020). Common Voice: A Massively-Multilingual Speech Corpus. LREC 2020, pp. 4218–4222.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758184"/>
            <a:ext cx="457200" cy="3200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7947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[8]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77647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Pratap, V., et al. (2023). Scaling Speech Technology to 1,000+ Languages. arXiv:2305.13516. Meta AI Research.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105656"/>
            <a:ext cx="457200" cy="3200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14223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[9]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12394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Ravanelli, M. &amp; Bengio, Y. (2018). Speaker Recognition from Raw Waveform with SincNet. SLT 2018, pp. 1021–1028. doi:10.1109/SLT.2018.8639585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453128"/>
            <a:ext cx="457200" cy="3200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448970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[10]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471416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Davis, S. B. &amp; Mermelstein, P. (1980). Comparison of Parametric Representations for Monosyllabic Word Recognition in Continuously Spoken Sentences. IEEE Transactions on Acoustics, Speech, and Signal Processing, 28(4), pp. 357–366.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800600"/>
            <a:ext cx="457200" cy="3200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3717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[11]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81888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Wenger, E., et al. (2021). Hello, It's Me: Deep Learning-based Speech Synthesis Attacks in the Real World. ACM CCS 2021. doi:10.1145/3460120.3484742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148072"/>
            <a:ext cx="457200" cy="3200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518464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[12]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1663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Bird, J. J. &amp; Lotfi, A. (2023). Real-Time Detection of AI-Generated Speech for Deepfake Voice Conversion. arXiv:2310.12204.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495544"/>
            <a:ext cx="457200" cy="3200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53212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[13]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51383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Wu, C., et al. (2025). SEA-SPOOF: Bridging the Gap in Multilingual Audio Deepfake Detection for South-East Asia. arXiv:2504.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843016"/>
            <a:ext cx="457200" cy="3200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587959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[14]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86130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Mawalim, C. O., et al. (2025). InaSAS: Benchmarking Indonesian Speech Antispoofing Systems. arXiv:2502.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Terima Kasih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2743200"/>
            <a:ext cx="484632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Reynaldi Pamungkas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AACC"/>
                </a:solidFill>
              </a:rPr>
              <a:t>Institut Teknologi Bandung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114800"/>
            <a:ext cx="2377440" cy="1371600"/>
          </a:xfrm>
          <a:prstGeom prst="rect">
            <a:avLst/>
          </a:prstGeom>
          <a:solidFill>
            <a:srgbClr val="11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251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D700"/>
                </a:solidFill>
              </a:rPr>
              <a:t>35.891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846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8E8"/>
                </a:solidFill>
              </a:rPr>
              <a:t>Sampel
Bona Fide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4114800"/>
            <a:ext cx="2377440" cy="1371600"/>
          </a:xfrm>
          <a:prstGeom prst="rect">
            <a:avLst/>
          </a:prstGeom>
          <a:solidFill>
            <a:srgbClr val="11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4251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D700"/>
                </a:solidFill>
              </a:rPr>
              <a:t>75.512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4846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8E8"/>
                </a:solidFill>
              </a:rPr>
              <a:t>Sampel
Spoof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4114800"/>
            <a:ext cx="2377440" cy="1371600"/>
          </a:xfrm>
          <a:prstGeom prst="rect">
            <a:avLst/>
          </a:prstGeom>
          <a:solidFill>
            <a:srgbClr val="11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4251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D700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4846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8E8"/>
                </a:solidFill>
              </a:rPr>
              <a:t>Model
Terlatih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20" y="4114800"/>
            <a:ext cx="2377440" cy="1371600"/>
          </a:xfrm>
          <a:prstGeom prst="rect">
            <a:avLst/>
          </a:prstGeom>
          <a:solidFill>
            <a:srgbClr val="11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21240" y="4251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D700"/>
                </a:solidFill>
              </a:rPr>
              <a:t>1.0000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4846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8E8"/>
                </a:solidFill>
              </a:rPr>
              <a:t>ROC-AUC
Semua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2910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Pipeline &amp; kode tersedia di: /Users/rey/ITB/semester_2/PPT/reformat_create_dataset/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